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371600" y="274320"/>
            <a:ext cx="6400800" cy="3657600"/>
          </a:xfrm>
          <a:prstGeom prst="ellipse">
            <a:avLst/>
          </a:prstGeom>
          <a:solidFill>
            <a:srgbClr val="075E54">
              <a:alpha val="12156"/>
            </a:srgbClr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2286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6600"/>
              <a:buFont typeface="Calibri"/>
              <a:buNone/>
            </a:pPr>
            <a:r>
              <a:rPr b="1" i="0" lang="en-US" sz="66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SureRide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17373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AI-Powered Ride Booking Agent with Secure Live Payments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2286000"/>
            <a:ext cx="1508760" cy="274320"/>
          </a:xfrm>
          <a:prstGeom prst="roundRect">
            <a:avLst>
              <a:gd fmla="val 50000" name="adj"/>
            </a:avLst>
          </a:prstGeom>
          <a:solidFill>
            <a:srgbClr val="128C7E">
              <a:alpha val="21960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22860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LangGraph Agent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039112" y="2286000"/>
            <a:ext cx="1508760" cy="274320"/>
          </a:xfrm>
          <a:prstGeom prst="roundRect">
            <a:avLst>
              <a:gd fmla="val 50000" name="adj"/>
            </a:avLst>
          </a:prstGeom>
          <a:solidFill>
            <a:srgbClr val="128C7E">
              <a:alpha val="21960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039112" y="22860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60-Second Booking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21024" y="2286000"/>
            <a:ext cx="1508760" cy="274320"/>
          </a:xfrm>
          <a:prstGeom prst="roundRect">
            <a:avLst>
              <a:gd fmla="val 50000" name="adj"/>
            </a:avLst>
          </a:prstGeom>
          <a:solidFill>
            <a:srgbClr val="128C7E">
              <a:alpha val="21960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3621024" y="22860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PesaPal v3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202936" y="2286000"/>
            <a:ext cx="1508760" cy="274320"/>
          </a:xfrm>
          <a:prstGeom prst="roundRect">
            <a:avLst>
              <a:gd fmla="val 50000" name="adj"/>
            </a:avLst>
          </a:prstGeom>
          <a:solidFill>
            <a:srgbClr val="128C7E">
              <a:alpha val="21960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202936" y="22860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Operations Dashboard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784848" y="2286000"/>
            <a:ext cx="1508760" cy="274320"/>
          </a:xfrm>
          <a:prstGeom prst="roundRect">
            <a:avLst>
              <a:gd fmla="val 50000" name="adj"/>
            </a:avLst>
          </a:prstGeom>
          <a:solidFill>
            <a:srgbClr val="128C7E">
              <a:alpha val="21960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6784848" y="2286000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KDPA Compliance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3"/>
          <p:cNvCxnSpPr/>
          <p:nvPr/>
        </p:nvCxnSpPr>
        <p:spPr>
          <a:xfrm>
            <a:off x="1371600" y="2788920"/>
            <a:ext cx="6400800" cy="0"/>
          </a:xfrm>
          <a:prstGeom prst="straightConnector1">
            <a:avLst/>
          </a:prstGeom>
          <a:noFill/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3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Jeff Theuri </a:t>
            </a:r>
            <a:r>
              <a:rPr lang="en-US"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AIPP Capstone Project Submission  ·  iLabAfrica | Strathmore University  ·  June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02920" y="3337560"/>
            <a:ext cx="2011680" cy="10972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02920" y="3401568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02920" y="39776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Agent States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2560320" y="3337560"/>
            <a:ext cx="2011680" cy="10972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2560320" y="3401568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2560320" y="39776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Pilot Zones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4617720" y="3337560"/>
            <a:ext cx="2011680" cy="10972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4617720" y="3401568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617720" y="39776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AIPP Modules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6675120" y="3337560"/>
            <a:ext cx="2011680" cy="10972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6675120" y="3401568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6675120" y="39776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Unit 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80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01 — PROBLEM FRAMING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Drunk Driving is </a:t>
            </a:r>
            <a:r>
              <a:rPr b="1" i="0" lang="en-US" sz="34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Killing Kenyans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1188720"/>
            <a:ext cx="2651760" cy="1691640"/>
          </a:xfrm>
          <a:prstGeom prst="rect">
            <a:avLst/>
          </a:prstGeom>
          <a:solidFill>
            <a:srgbClr val="1F0A0A"/>
          </a:solidFill>
          <a:ln cap="flat" cmpd="sng" w="12700">
            <a:solidFill>
              <a:srgbClr val="3D151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57200" y="1261872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3,000+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2011680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Annual road fatalities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nationally in Kenya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(NTSA, 2024)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3291840" y="1188720"/>
            <a:ext cx="2651760" cy="1691640"/>
          </a:xfrm>
          <a:prstGeom prst="rect">
            <a:avLst/>
          </a:prstGeom>
          <a:solidFill>
            <a:srgbClr val="1F0A0A"/>
          </a:solidFill>
          <a:ln cap="flat" cmpd="sng" w="12700">
            <a:solidFill>
              <a:srgbClr val="3D151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3291840" y="1261872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3383280" y="2011680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Attributed to alcohol-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impaired driving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~900 preventable deaths/yr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126480" y="1188720"/>
            <a:ext cx="2651760" cy="1691640"/>
          </a:xfrm>
          <a:prstGeom prst="rect">
            <a:avLst/>
          </a:prstGeom>
          <a:solidFill>
            <a:srgbClr val="1F0A0A"/>
          </a:solidFill>
          <a:ln cap="flat" cmpd="sng" w="12700">
            <a:solidFill>
              <a:srgbClr val="3D151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6126480" y="1261872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217920" y="2011680"/>
            <a:ext cx="246888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Affluent Nairobi pilot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zones geofenced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 driver vetting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128C7E">
              <a:alpha val="12156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94360" y="3035808"/>
            <a:ext cx="7955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AI Suitability &amp; Friction Removal: 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Stateful conversational AI eliminates booking friction (WhatsApp interface), while RAG guarantees grounded policy compliance (fares/rules) and fuzzy geofencing manages pilot availability.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By geofencing to 19 pilot zones, we manage driver capacity and route safety while testing the core conversational engine.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02 / 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A1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02 — SOLUTION OVERVIEW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SureRide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How It Works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09728" y="1207008"/>
            <a:ext cx="1024128" cy="749808"/>
          </a:xfrm>
          <a:prstGeom prst="rect">
            <a:avLst/>
          </a:prstGeom>
          <a:solidFill>
            <a:srgbClr val="0F2A1A"/>
          </a:solidFill>
          <a:ln cap="flat" cmpd="sng" w="1905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109728" y="1207008"/>
            <a:ext cx="10241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👋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133856" y="1435608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426464" y="1207008"/>
            <a:ext cx="1024128" cy="749808"/>
          </a:xfrm>
          <a:prstGeom prst="rect">
            <a:avLst/>
          </a:prstGeom>
          <a:solidFill>
            <a:srgbClr val="0F2A1A"/>
          </a:solidFill>
          <a:ln cap="flat" cmpd="sng" w="1905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426464" y="1207008"/>
            <a:ext cx="10241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450592" y="1435608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743200" y="1207008"/>
            <a:ext cx="1024128" cy="749808"/>
          </a:xfrm>
          <a:prstGeom prst="rect">
            <a:avLst/>
          </a:prstGeom>
          <a:solidFill>
            <a:srgbClr val="0F2A1A"/>
          </a:solidFill>
          <a:ln cap="flat" cmpd="sng" w="1905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2743200" y="1207008"/>
            <a:ext cx="10241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(Fuzzy)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767328" y="1435608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059936" y="1207008"/>
            <a:ext cx="1024128" cy="749808"/>
          </a:xfrm>
          <a:prstGeom prst="rect">
            <a:avLst/>
          </a:prstGeom>
          <a:solidFill>
            <a:srgbClr val="0F2A1A"/>
          </a:solidFill>
          <a:ln cap="flat" cmpd="sng" w="1905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059936" y="1207008"/>
            <a:ext cx="10241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🏁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(Fuzzy)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084064" y="1435608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376672" y="1207008"/>
            <a:ext cx="1024128" cy="749808"/>
          </a:xfrm>
          <a:prstGeom prst="rect">
            <a:avLst/>
          </a:prstGeom>
          <a:solidFill>
            <a:srgbClr val="0F2A1A"/>
          </a:solidFill>
          <a:ln cap="flat" cmpd="sng" w="1905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376672" y="1207008"/>
            <a:ext cx="10241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🧾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400800" y="1435608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693408" y="1207008"/>
            <a:ext cx="1024128" cy="749808"/>
          </a:xfrm>
          <a:prstGeom prst="rect">
            <a:avLst/>
          </a:prstGeom>
          <a:solidFill>
            <a:srgbClr val="0F2A1A"/>
          </a:solidFill>
          <a:ln cap="flat" cmpd="sng" w="1905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6693408" y="1207008"/>
            <a:ext cx="10241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PesaPal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717536" y="1435608"/>
            <a:ext cx="292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010144" y="1207008"/>
            <a:ext cx="1024128" cy="749808"/>
          </a:xfrm>
          <a:prstGeom prst="rect">
            <a:avLst/>
          </a:prstGeom>
          <a:solidFill>
            <a:srgbClr val="128C7E"/>
          </a:solidFill>
          <a:ln cap="flat" cmpd="sng" w="1905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8010144" y="1207008"/>
            <a:ext cx="102412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🚗✅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57200" y="208483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↕  At any step, user can ask a question → RAG knowledge base answers → booking resumes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2487168"/>
            <a:ext cx="2697480" cy="1783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57200" y="2542032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2926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LangGraph Agent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8640" y="31821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Stateful conversation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66928" y="3383280"/>
            <a:ext cx="247802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Multi-turn booking flow with geofence validation and payment checking nodes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3310128" y="2487168"/>
            <a:ext cx="2697480" cy="1783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3310128" y="2542032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401568" y="2926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Knowledge 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401568" y="31821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ChromaDB + Gemini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419856" y="3383280"/>
            <a:ext cx="247802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FAQ retrieval — pricing, service areas, safety — grounded in verified company policy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163056" y="2487168"/>
            <a:ext cx="2697480" cy="1783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A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163056" y="2542032"/>
            <a:ext cx="2697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254496" y="2926080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Double-View UI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254496" y="31821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Streamlit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272784" y="3383280"/>
            <a:ext cx="247802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Toggle between WhatsApp chat booking and a full operations dashboard with demand metrics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03 / 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03 — TECHNICAL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LangGraph </a:t>
            </a:r>
            <a:r>
              <a:rPr b="1" i="0" lang="en-US" sz="34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State Machine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1207008"/>
            <a:ext cx="4206240" cy="26060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548640" y="1298448"/>
            <a:ext cx="402336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BookingState — single source of truth</a:t>
            </a:r>
            <a:r>
              <a:rPr b="0" i="0" lang="en-US" sz="900" u="none" cap="none" strike="noStrike">
                <a:solidFill>
                  <a:srgbClr val="FF6B6B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-US" sz="900" u="none" cap="none" strike="noStrike">
                <a:solidFill>
                  <a:srgbClr val="34EBE8"/>
                </a:solidFill>
                <a:latin typeface="Courier New"/>
                <a:ea typeface="Courier New"/>
                <a:cs typeface="Courier New"/>
                <a:sym typeface="Courier New"/>
              </a:rPr>
              <a:t>BookingState</a:t>
            </a:r>
            <a:r>
              <a:rPr b="0" i="0" lang="en-US" sz="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(TypedDict):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messages:     </a:t>
            </a:r>
            <a:r>
              <a:rPr b="0" i="0" lang="en-US" sz="900" u="none" cap="none" strike="noStrike">
                <a:solidFill>
                  <a:srgbClr val="25D366"/>
                </a:solidFill>
                <a:latin typeface="Courier New"/>
                <a:ea typeface="Courier New"/>
                <a:cs typeface="Courier New"/>
                <a:sym typeface="Courier New"/>
              </a:rPr>
              <a:t>Annotated[list, add_messages]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user_name:    </a:t>
            </a:r>
            <a:r>
              <a:rPr b="0" i="0" lang="en-US" sz="900" u="none" cap="none" strike="noStrike">
                <a:solidFill>
                  <a:srgbClr val="34EBE8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pickup_zone:  </a:t>
            </a:r>
            <a:r>
              <a:rPr b="0" i="0" lang="en-US" sz="900" u="none" cap="none" strike="noStrike">
                <a:solidFill>
                  <a:srgbClr val="34EBE8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fare_kes:     </a:t>
            </a:r>
            <a:r>
              <a:rPr b="0" i="0" lang="en-US" sz="900" u="none" cap="none" strike="noStrike">
                <a:solidFill>
                  <a:srgbClr val="34EBE8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current_step: </a:t>
            </a:r>
            <a:r>
              <a:rPr b="0" i="0" lang="en-US" sz="900" u="none" cap="none" strike="noStrike">
                <a:solidFill>
                  <a:srgbClr val="34EBE8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# Dispatcher reads current_step &amp; routes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6B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900" u="none" cap="none" strike="noStrike">
                <a:solidFill>
                  <a:srgbClr val="34EBE8"/>
                </a:solidFill>
                <a:latin typeface="Courier New"/>
                <a:ea typeface="Courier New"/>
                <a:cs typeface="Courier New"/>
                <a:sym typeface="Courier New"/>
              </a:rPr>
              <a:t>dispatcher</a:t>
            </a:r>
            <a:r>
              <a:rPr b="0" i="0" lang="en-US" sz="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(state):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step = state[</a:t>
            </a:r>
            <a:r>
              <a:rPr b="0" i="0" lang="en-US" sz="900" u="none" cap="none" strike="noStrike">
                <a:solidFill>
                  <a:srgbClr val="25D366"/>
                </a:solidFill>
                <a:latin typeface="Courier New"/>
                <a:ea typeface="Courier New"/>
                <a:cs typeface="Courier New"/>
                <a:sym typeface="Courier New"/>
              </a:rPr>
              <a:t>"current_step"</a:t>
            </a:r>
            <a:r>
              <a:rPr b="0" i="0" lang="en-US" sz="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return handlers[step](state)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846320" y="1207008"/>
            <a:ext cx="3840480" cy="4572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846320" y="1207008"/>
            <a:ext cx="54864" cy="457200"/>
          </a:xfrm>
          <a:prstGeom prst="rect">
            <a:avLst/>
          </a:prstGeom>
          <a:solidFill>
            <a:srgbClr val="128C7E"/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983480" y="12344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Dispatcher pattern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983480" y="14264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One node reads current_step and routes — graph stays simple and debuggable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846320" y="1728216"/>
            <a:ext cx="3840480" cy="4572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846320" y="1728216"/>
            <a:ext cx="54864" cy="457200"/>
          </a:xfrm>
          <a:prstGeom prst="rect">
            <a:avLst/>
          </a:prstGeom>
          <a:solidFill>
            <a:srgbClr val="128C7E"/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4983480" y="175564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Fuzzy Matcher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4983480" y="194767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difflib-based matching filters user input against the 19 zones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846320" y="2249424"/>
            <a:ext cx="3840480" cy="4572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4846320" y="2249424"/>
            <a:ext cx="54864" cy="457200"/>
          </a:xfrm>
          <a:prstGeom prst="rect">
            <a:avLst/>
          </a:prstGeom>
          <a:solidFill>
            <a:srgbClr val="128C7E"/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4983480" y="227685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add_messages reducer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983480" y="246888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Conversation history is append-only; guard condition prevents greet re-trigger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846320" y="2770632"/>
            <a:ext cx="3840480" cy="4572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4846320" y="2770632"/>
            <a:ext cx="54864" cy="457200"/>
          </a:xfrm>
          <a:prstGeom prst="rect">
            <a:avLst/>
          </a:prstGeom>
          <a:solidFill>
            <a:srgbClr val="128C7E"/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983480" y="279806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FAQ intercept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983480" y="299008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Routes to RAG mid-booking, then resumes at same step seamlessly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846320" y="3291840"/>
            <a:ext cx="3840480" cy="4572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846320" y="3291840"/>
            <a:ext cx="54864" cy="457200"/>
          </a:xfrm>
          <a:prstGeom prst="rect">
            <a:avLst/>
          </a:prstGeom>
          <a:solidFill>
            <a:srgbClr val="128C7E"/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983480" y="331927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Human-in-the-loop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983480" y="351129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No booking confirmed without explicit user confirmation step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846320" y="3858768"/>
            <a:ext cx="914400" cy="237744"/>
          </a:xfrm>
          <a:prstGeom prst="roundRect">
            <a:avLst>
              <a:gd fmla="val 50000" name="adj"/>
            </a:avLst>
          </a:prstGeom>
          <a:solidFill>
            <a:srgbClr val="128C7E">
              <a:alpha val="21960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4846320" y="385876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LangGraph 1.2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833872" y="3858768"/>
            <a:ext cx="914400" cy="237744"/>
          </a:xfrm>
          <a:prstGeom prst="roundRect">
            <a:avLst>
              <a:gd fmla="val 50000" name="adj"/>
            </a:avLst>
          </a:prstGeom>
          <a:solidFill>
            <a:srgbClr val="128C7E">
              <a:alpha val="21960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833872" y="385876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LangChain 1.3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821424" y="3858768"/>
            <a:ext cx="914400" cy="237744"/>
          </a:xfrm>
          <a:prstGeom prst="roundRect">
            <a:avLst>
              <a:gd fmla="val 50000" name="adj"/>
            </a:avLst>
          </a:prstGeom>
          <a:solidFill>
            <a:srgbClr val="128C7E">
              <a:alpha val="21960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821424" y="385876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Gemini 1.5 Flash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808976" y="3858768"/>
            <a:ext cx="914400" cy="237744"/>
          </a:xfrm>
          <a:prstGeom prst="roundRect">
            <a:avLst>
              <a:gd fmla="val 50000" name="adj"/>
            </a:avLst>
          </a:prstGeom>
          <a:solidFill>
            <a:srgbClr val="128C7E">
              <a:alpha val="21960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808976" y="385876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Python 3.13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04 / 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04 — TECHNICAL EXECUTION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 </a:t>
            </a:r>
            <a:r>
              <a:rPr b="1" i="0" lang="en-US" sz="34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Dashboard UI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57200" y="1188720"/>
            <a:ext cx="4114800" cy="6583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1005840" y="124358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EB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EBE8"/>
                </a:solidFill>
                <a:latin typeface="Calibri"/>
                <a:ea typeface="Calibri"/>
                <a:cs typeface="Calibri"/>
                <a:sym typeface="Calibri"/>
              </a:rPr>
              <a:t>KPI Cards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005840" y="1499616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Total bookings, total KES revenue, active geofenced pilots, PesaPal completion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1938528"/>
            <a:ext cx="4114800" cy="6583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502920" y="20299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005840" y="199339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EB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EBE8"/>
                </a:solidFill>
                <a:latin typeface="Calibri"/>
                <a:ea typeface="Calibri"/>
                <a:cs typeface="Calibri"/>
                <a:sym typeface="Calibri"/>
              </a:rPr>
              <a:t>Bar Chart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1005840" y="224942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Live visual mapping ride popularity across the 10 most popular geofenced zones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2688336"/>
            <a:ext cx="4114800" cy="6583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02920" y="27797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005840" y="274320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EB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EBE8"/>
                </a:solidFill>
                <a:latin typeface="Calibri"/>
                <a:ea typeface="Calibri"/>
                <a:cs typeface="Calibri"/>
                <a:sym typeface="Calibri"/>
              </a:rPr>
              <a:t>Ethics KPIs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005840" y="299923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Data minimisation score, KDPA compliance checks, human escalation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57200" y="3438144"/>
            <a:ext cx="4114800" cy="6583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502920" y="352958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1005840" y="349300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EBE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4EBE8"/>
                </a:solidFill>
                <a:latin typeface="Calibri"/>
                <a:ea typeface="Calibri"/>
                <a:cs typeface="Calibri"/>
                <a:sym typeface="Calibri"/>
              </a:rPr>
              <a:t>Audit Feed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005840" y="374904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Real-time table: passenger names, routes, and PesaPal transaction references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8103A"/>
          </a:solidFill>
          <a:ln cap="flat" cmpd="sng" w="12700">
            <a:solidFill>
              <a:srgbClr val="5A3E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892040" y="1261872"/>
            <a:ext cx="365760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 Engineering Rigor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The prototype is backed by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13/13 passing unit tests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covering fuzzy match thresholds, Haversine road factor calculations, and Fri/Sat night surge rules. Production secrets secured via dotenv environment variables.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754880" y="2788920"/>
            <a:ext cx="3931920" cy="1024128"/>
          </a:xfrm>
          <a:prstGeom prst="rect">
            <a:avLst/>
          </a:prstGeom>
          <a:solidFill>
            <a:srgbClr val="128C7E">
              <a:alpha val="12156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892040" y="283464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UI Toggle: 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Users dynamically toggle between the WhatsApp chat mode and the operations dashboard via a sidebar screen selector.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05 / 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05 — RAG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Retrieval-Augmented </a:t>
            </a:r>
            <a:r>
              <a:rPr b="1" i="0" lang="en-US" sz="34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118872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Ingestion (one-time) — python rag/ingest.py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57200" y="1481328"/>
            <a:ext cx="4114800" cy="621792"/>
          </a:xfrm>
          <a:prstGeom prst="rect">
            <a:avLst/>
          </a:prstGeom>
          <a:solidFill>
            <a:srgbClr val="13103A"/>
          </a:solidFill>
          <a:ln cap="flat" cmpd="sng" w="12700">
            <a:solidFill>
              <a:srgbClr val="4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94360" y="1527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9DD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39DDB"/>
                </a:solidFill>
                <a:latin typeface="Calibri"/>
                <a:ea typeface="Calibri"/>
                <a:cs typeface="Calibri"/>
                <a:sym typeface="Calibri"/>
              </a:rPr>
              <a:t>📄  Source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94360" y="178308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sureride_faq.txt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Aligned with geofenced pricing &amp; 19 zones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57200" y="2121408"/>
            <a:ext cx="41148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57200" y="2231136"/>
            <a:ext cx="4114800" cy="621792"/>
          </a:xfrm>
          <a:prstGeom prst="rect">
            <a:avLst/>
          </a:prstGeom>
          <a:solidFill>
            <a:srgbClr val="13103A"/>
          </a:solidFill>
          <a:ln cap="flat" cmpd="sng" w="12700">
            <a:solidFill>
              <a:srgbClr val="4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94360" y="227685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9DD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39DDB"/>
                </a:solidFill>
                <a:latin typeface="Calibri"/>
                <a:ea typeface="Calibri"/>
                <a:cs typeface="Calibri"/>
                <a:sym typeface="Calibri"/>
              </a:rPr>
              <a:t>✂️  Chunk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94360" y="253288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RecursiveCharacterTextSplitter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chunk_size=400, overlap=60 → 29 chunks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2871216"/>
            <a:ext cx="41148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57200" y="2980944"/>
            <a:ext cx="4114800" cy="621792"/>
          </a:xfrm>
          <a:prstGeom prst="rect">
            <a:avLst/>
          </a:prstGeom>
          <a:solidFill>
            <a:srgbClr val="13103A"/>
          </a:solidFill>
          <a:ln cap="flat" cmpd="sng" w="12700">
            <a:solidFill>
              <a:srgbClr val="4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594360" y="302666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9DD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39DDB"/>
                </a:solidFill>
                <a:latin typeface="Calibri"/>
                <a:ea typeface="Calibri"/>
                <a:cs typeface="Calibri"/>
                <a:sym typeface="Calibri"/>
              </a:rPr>
              <a:t>🧮  Embed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94360" y="3282696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Gemini embedding-001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768-dim semantic vectors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7200" y="3621024"/>
            <a:ext cx="411480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57200" y="3730752"/>
            <a:ext cx="4114800" cy="621792"/>
          </a:xfrm>
          <a:prstGeom prst="rect">
            <a:avLst/>
          </a:prstGeom>
          <a:solidFill>
            <a:srgbClr val="13103A"/>
          </a:solidFill>
          <a:ln cap="flat" cmpd="sng" w="12700">
            <a:solidFill>
              <a:srgbClr val="4A3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594360" y="377647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9DD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39DDB"/>
                </a:solidFill>
                <a:latin typeface="Calibri"/>
                <a:ea typeface="Calibri"/>
                <a:cs typeface="Calibri"/>
                <a:sym typeface="Calibri"/>
              </a:rPr>
              <a:t>🗄️  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94360" y="4032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ChromaDB (local, persisted)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Collection: sureride_faq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754880" y="1188720"/>
            <a:ext cx="3931920" cy="1481328"/>
          </a:xfrm>
          <a:prstGeom prst="rect">
            <a:avLst/>
          </a:prstGeom>
          <a:solidFill>
            <a:srgbClr val="18103A"/>
          </a:solidFill>
          <a:ln cap="flat" cmpd="sng" w="12700">
            <a:solidFill>
              <a:srgbClr val="5A3E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892040" y="1261872"/>
            <a:ext cx="3657600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RAG over pure LLM?</a:t>
            </a: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 raw LLM might </a:t>
            </a:r>
            <a:r>
              <a:rPr b="0" i="1" lang="en-US" sz="11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invent 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pricing (e.g., "KES 50 base fare") or service areas that don't exist. RAG constrains the model to answer </a:t>
            </a:r>
            <a:r>
              <a:rPr b="1" i="0" lang="en-US" sz="11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only from verified company policy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thus</a:t>
            </a:r>
            <a:r>
              <a:rPr b="0" i="0" lang="en-US" sz="11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 eliminating hallucination in FAQ responses.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754880" y="2816352"/>
            <a:ext cx="3931920" cy="14630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892040" y="2871216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Test query results: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892040" y="3127248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EB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4EBE8"/>
                </a:solidFill>
                <a:latin typeface="Calibri"/>
                <a:ea typeface="Calibri"/>
                <a:cs typeface="Calibri"/>
                <a:sym typeface="Calibri"/>
              </a:rPr>
              <a:t>Q: "How much does a ride cost?"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892040" y="329184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 Retrieved: PRICING section — KES 150 base, KES 50 fee, KES 35/km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892040" y="3474720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EB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4EBE8"/>
                </a:solidFill>
                <a:latin typeface="Calibri"/>
                <a:ea typeface="Calibri"/>
                <a:cs typeface="Calibri"/>
                <a:sym typeface="Calibri"/>
              </a:rPr>
              <a:t>Q: "What areas do you cover?"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892040" y="363931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 Retrieved: 19 geofenced zones in Nairobi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892040" y="3822192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EB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4EBE8"/>
                </a:solidFill>
                <a:latin typeface="Calibri"/>
                <a:ea typeface="Calibri"/>
                <a:cs typeface="Calibri"/>
                <a:sym typeface="Calibri"/>
              </a:rPr>
              <a:t>Q: "Is there a surge charge?"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892040" y="3986784"/>
            <a:ext cx="3657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 Retrieved: ×1.5 surge Fri/Sat 10 PM–3 AM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06 / 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A0D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06 — INTEGRATION OF LEARNING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AIPP </a:t>
            </a:r>
            <a:r>
              <a:rPr b="1" i="0" lang="en-US" sz="34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Module Mapping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1170432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SureRide integrates concepts from 6 AIPP course modules: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57200" y="1481328"/>
            <a:ext cx="4041648" cy="10058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457200" y="1481328"/>
            <a:ext cx="54864" cy="1005840"/>
          </a:xfrm>
          <a:prstGeom prst="rect">
            <a:avLst/>
          </a:prstGeom>
          <a:solidFill>
            <a:srgbClr val="25D366"/>
          </a:solidFill>
          <a:ln cap="flat" cmpd="sng" w="127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585216" y="1572768"/>
            <a:ext cx="3858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85216" y="1737360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Foundations of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85216" y="1984248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Problem framing: identifying drunk-driving as a solvable AI problem; selecting stateful conversational agent paradigms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4645152" y="1481328"/>
            <a:ext cx="4041648" cy="10058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645152" y="1481328"/>
            <a:ext cx="54864" cy="1005840"/>
          </a:xfrm>
          <a:prstGeom prst="rect">
            <a:avLst/>
          </a:prstGeom>
          <a:solidFill>
            <a:srgbClr val="B39DDB"/>
          </a:solidFill>
          <a:ln cap="flat" cmpd="sng" w="12700">
            <a:solidFill>
              <a:srgbClr val="B39D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773168" y="1572768"/>
            <a:ext cx="3858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773168" y="1737360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4773168" y="1984248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RAG grounding system prompt with role constraints and source-only instruction; context window optimisation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57200" y="2596896"/>
            <a:ext cx="4041648" cy="10058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57200" y="2596896"/>
            <a:ext cx="54864" cy="1005840"/>
          </a:xfrm>
          <a:prstGeom prst="rect">
            <a:avLst/>
          </a:prstGeom>
          <a:solidFill>
            <a:srgbClr val="34EBE8"/>
          </a:solidFill>
          <a:ln cap="flat" cmpd="sng" w="12700">
            <a:solidFill>
              <a:srgbClr val="34E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85216" y="2688336"/>
            <a:ext cx="3858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85216" y="2852928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Agents &amp; Orchestration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85216" y="3099816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LangGraph StateGraph with dispatcher pattern, geofence check nodes, human-in-the-loop payment validation gates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645152" y="2596896"/>
            <a:ext cx="4041648" cy="10058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4645152" y="2596896"/>
            <a:ext cx="54864" cy="1005840"/>
          </a:xfrm>
          <a:prstGeom prst="rect">
            <a:avLst/>
          </a:prstGeom>
          <a:solidFill>
            <a:srgbClr val="F7C948"/>
          </a:solidFill>
          <a:ln cap="flat" cmpd="sng" w="12700">
            <a:solidFill>
              <a:srgbClr val="F7C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4773168" y="2688336"/>
            <a:ext cx="3858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MODULE 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773168" y="2852928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4773168" y="3099816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ChromaDB vector store; Gemini embedding-001; text splitters; retriever integration as a LangGraph tool node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457200" y="3712464"/>
            <a:ext cx="4041648" cy="10058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457200" y="3712464"/>
            <a:ext cx="54864" cy="1005840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585216" y="3803904"/>
            <a:ext cx="3858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MODULE 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85216" y="3968496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Ethics &amp; Governance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85216" y="4215384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KDPA 2019 compliance; data minimisation; geofencing risk bounding; 8-risk register; LangGraph state explainability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645152" y="3712464"/>
            <a:ext cx="4041648" cy="10058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4645152" y="3712464"/>
            <a:ext cx="54864" cy="1005840"/>
          </a:xfrm>
          <a:prstGeom prst="rect">
            <a:avLst/>
          </a:prstGeom>
          <a:solidFill>
            <a:srgbClr val="34D8B5"/>
          </a:solidFill>
          <a:ln cap="flat" cmpd="sng" w="12700">
            <a:solidFill>
              <a:srgbClr val="34D8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4773168" y="3803904"/>
            <a:ext cx="3858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MODULE 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773168" y="3968496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Applications &amp;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4773168" y="4215384"/>
            <a:ext cx="385876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Streamlit double-view UI (chat + dashboard); live PesaPal v3 REST API payment polling; 13 pytest unit tests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07 / 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D0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07 — AI ETHICS &amp; GOVERNANCE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Risks, Mitigations &amp; </a:t>
            </a:r>
            <a:r>
              <a:rPr b="1" i="0" lang="en-US" sz="34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KDPA Compliance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57200" y="1207008"/>
            <a:ext cx="4114800" cy="292608"/>
          </a:xfrm>
          <a:prstGeom prst="rect">
            <a:avLst/>
          </a:prstGeom>
          <a:solidFill>
            <a:srgbClr val="2A1800"/>
          </a:solidFill>
          <a:ln cap="flat" cmpd="sng" w="12700">
            <a:solidFill>
              <a:srgbClr val="4A3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548640" y="1225296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566160" y="1225296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57200" y="1499616"/>
            <a:ext cx="4114800" cy="310896"/>
          </a:xfrm>
          <a:prstGeom prst="rect">
            <a:avLst/>
          </a:prstGeom>
          <a:solidFill>
            <a:srgbClr val="1C1000"/>
          </a:solidFill>
          <a:ln cap="flat" cmpd="sng" w="9525">
            <a:solidFill>
              <a:srgbClr val="3A2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548640" y="1536192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Hallucination in booking details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566160" y="1554480"/>
            <a:ext cx="868680" cy="201168"/>
          </a:xfrm>
          <a:prstGeom prst="roundRect">
            <a:avLst>
              <a:gd fmla="val 45455" name="adj"/>
            </a:avLst>
          </a:prstGeom>
          <a:solidFill>
            <a:srgbClr val="FF6B6B">
              <a:alpha val="21960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3566160" y="1545336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457200" y="1847088"/>
            <a:ext cx="4114800" cy="310896"/>
          </a:xfrm>
          <a:prstGeom prst="rect">
            <a:avLst/>
          </a:prstGeom>
          <a:solidFill>
            <a:srgbClr val="160D00"/>
          </a:solidFill>
          <a:ln cap="flat" cmpd="sng" w="9525">
            <a:solidFill>
              <a:srgbClr val="3A2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48640" y="1883664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Location data exposure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3566160" y="1901952"/>
            <a:ext cx="868680" cy="201168"/>
          </a:xfrm>
          <a:prstGeom prst="roundRect">
            <a:avLst>
              <a:gd fmla="val 45455" name="adj"/>
            </a:avLst>
          </a:prstGeom>
          <a:solidFill>
            <a:srgbClr val="FFA94D">
              <a:alpha val="21960"/>
            </a:srgbClr>
          </a:solidFill>
          <a:ln cap="flat" cmpd="sng" w="12700">
            <a:solidFill>
              <a:srgbClr val="FFA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3566160" y="1892808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9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A94D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457200" y="2194560"/>
            <a:ext cx="4114800" cy="310896"/>
          </a:xfrm>
          <a:prstGeom prst="rect">
            <a:avLst/>
          </a:prstGeom>
          <a:solidFill>
            <a:srgbClr val="1C1000"/>
          </a:solidFill>
          <a:ln cap="flat" cmpd="sng" w="9525">
            <a:solidFill>
              <a:srgbClr val="3A2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548640" y="2231136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Payment failure / API timeouts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566160" y="2249424"/>
            <a:ext cx="868680" cy="201168"/>
          </a:xfrm>
          <a:prstGeom prst="roundRect">
            <a:avLst>
              <a:gd fmla="val 45455" name="adj"/>
            </a:avLst>
          </a:prstGeom>
          <a:solidFill>
            <a:srgbClr val="FF6B6B">
              <a:alpha val="21960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3566160" y="2240280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7200" y="2542032"/>
            <a:ext cx="4114800" cy="310896"/>
          </a:xfrm>
          <a:prstGeom prst="rect">
            <a:avLst/>
          </a:prstGeom>
          <a:solidFill>
            <a:srgbClr val="160D00"/>
          </a:solidFill>
          <a:ln cap="flat" cmpd="sng" w="9525">
            <a:solidFill>
              <a:srgbClr val="3A2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548640" y="2578608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Prompt injection attacks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3566160" y="2596896"/>
            <a:ext cx="868680" cy="201168"/>
          </a:xfrm>
          <a:prstGeom prst="roundRect">
            <a:avLst>
              <a:gd fmla="val 45455" name="adj"/>
            </a:avLst>
          </a:prstGeom>
          <a:solidFill>
            <a:srgbClr val="FFA94D">
              <a:alpha val="21960"/>
            </a:srgbClr>
          </a:solidFill>
          <a:ln cap="flat" cmpd="sng" w="12700">
            <a:solidFill>
              <a:srgbClr val="FFA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3566160" y="2587752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9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A94D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457200" y="2889504"/>
            <a:ext cx="4114800" cy="310896"/>
          </a:xfrm>
          <a:prstGeom prst="rect">
            <a:avLst/>
          </a:prstGeom>
          <a:solidFill>
            <a:srgbClr val="1C1000"/>
          </a:solidFill>
          <a:ln cap="flat" cmpd="sng" w="9525">
            <a:solidFill>
              <a:srgbClr val="3A2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548640" y="2926080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Passenger identity / impaired-user safety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566160" y="2944368"/>
            <a:ext cx="868680" cy="201168"/>
          </a:xfrm>
          <a:prstGeom prst="roundRect">
            <a:avLst>
              <a:gd fmla="val 45455" name="adj"/>
            </a:avLst>
          </a:prstGeom>
          <a:solidFill>
            <a:srgbClr val="FFA94D">
              <a:alpha val="21960"/>
            </a:srgbClr>
          </a:solidFill>
          <a:ln cap="flat" cmpd="sng" w="12700">
            <a:solidFill>
              <a:srgbClr val="FFA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3566160" y="2935224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9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A94D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57200" y="3236976"/>
            <a:ext cx="4114800" cy="310896"/>
          </a:xfrm>
          <a:prstGeom prst="rect">
            <a:avLst/>
          </a:prstGeom>
          <a:solidFill>
            <a:srgbClr val="160D00"/>
          </a:solidFill>
          <a:ln cap="flat" cmpd="sng" w="9525">
            <a:solidFill>
              <a:srgbClr val="3A2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548640" y="3273552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Service unavailability (Gemini down)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566160" y="3291840"/>
            <a:ext cx="868680" cy="201168"/>
          </a:xfrm>
          <a:prstGeom prst="roundRect">
            <a:avLst>
              <a:gd fmla="val 45455" name="adj"/>
            </a:avLst>
          </a:prstGeom>
          <a:solidFill>
            <a:srgbClr val="FF6B6B">
              <a:alpha val="21960"/>
            </a:srgbClr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3566160" y="3282696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57200" y="3584448"/>
            <a:ext cx="4114800" cy="310896"/>
          </a:xfrm>
          <a:prstGeom prst="rect">
            <a:avLst/>
          </a:prstGeom>
          <a:solidFill>
            <a:srgbClr val="1C1000"/>
          </a:solidFill>
          <a:ln cap="flat" cmpd="sng" w="9525">
            <a:solidFill>
              <a:srgbClr val="3A2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"/>
          <p:cNvSpPr/>
          <p:nvPr/>
        </p:nvSpPr>
        <p:spPr>
          <a:xfrm>
            <a:off x="548640" y="3621024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Driver bias in future matching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566160" y="3639312"/>
            <a:ext cx="868680" cy="201168"/>
          </a:xfrm>
          <a:prstGeom prst="roundRect">
            <a:avLst>
              <a:gd fmla="val 45455" name="adj"/>
            </a:avLst>
          </a:prstGeom>
          <a:solidFill>
            <a:srgbClr val="FFA94D">
              <a:alpha val="21960"/>
            </a:srgbClr>
          </a:solidFill>
          <a:ln cap="flat" cmpd="sng" w="12700">
            <a:solidFill>
              <a:srgbClr val="FFA9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3566160" y="3630168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A94D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A94D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57200" y="3931920"/>
            <a:ext cx="4114800" cy="822960"/>
          </a:xfrm>
          <a:prstGeom prst="rect">
            <a:avLst/>
          </a:prstGeom>
          <a:solidFill>
            <a:srgbClr val="128C7E">
              <a:alpha val="12156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94360" y="3968496"/>
            <a:ext cx="3840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control:  </a:t>
            </a: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Geofencing limits pilot to vetted zones. PesaPal PCI-DSS ensures card/wallet numbers never stored. OTP via M-Pesa is the top pre-production requirement.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754880" y="1207008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KDPA 2019 Compliance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754880" y="1508760"/>
            <a:ext cx="1920240" cy="914400"/>
          </a:xfrm>
          <a:prstGeom prst="rect">
            <a:avLst/>
          </a:prstGeom>
          <a:solidFill>
            <a:srgbClr val="1A1200"/>
          </a:solidFill>
          <a:ln cap="flat" cmpd="sng" w="12700">
            <a:solidFill>
              <a:srgbClr val="3A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4846320" y="160020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🔒  Consent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4846320" y="185623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Proceeding with chat constitutes informed consent; disclosed at session start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748272" y="1508760"/>
            <a:ext cx="1920240" cy="914400"/>
          </a:xfrm>
          <a:prstGeom prst="rect">
            <a:avLst/>
          </a:prstGeom>
          <a:solidFill>
            <a:srgbClr val="1A1200"/>
          </a:solidFill>
          <a:ln cap="flat" cmpd="sng" w="12700">
            <a:solidFill>
              <a:srgbClr val="3A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6839712" y="160020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📦  Minimisation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839712" y="1856232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Only name, pickup, destination collected. No phone, ID, or card details stored.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754880" y="2532888"/>
            <a:ext cx="1920240" cy="914400"/>
          </a:xfrm>
          <a:prstGeom prst="rect">
            <a:avLst/>
          </a:prstGeom>
          <a:solidFill>
            <a:srgbClr val="1A1200"/>
          </a:solidFill>
          <a:ln cap="flat" cmpd="sng" w="12700">
            <a:solidFill>
              <a:srgbClr val="3A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4846320" y="262432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🗑️  Erasure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4846320" y="28803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State lives in session_state only — cleared on page refresh. No DB writes.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6748272" y="2532888"/>
            <a:ext cx="1920240" cy="914400"/>
          </a:xfrm>
          <a:prstGeom prst="rect">
            <a:avLst/>
          </a:prstGeom>
          <a:solidFill>
            <a:srgbClr val="1A1200"/>
          </a:solidFill>
          <a:ln cap="flat" cmpd="sng" w="12700">
            <a:solidFill>
              <a:srgbClr val="3A28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0"/>
          <p:cNvSpPr/>
          <p:nvPr/>
        </p:nvSpPr>
        <p:spPr>
          <a:xfrm>
            <a:off x="6839712" y="262432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📋  Accountability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839712" y="288036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DPO appointed; all payment references logged with timestamps for audit.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4754880" y="356616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🛡️  RAG grounding — LLM answers only from verified policy docs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4754880" y="3913632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🔀  LangGraph trace — rule-based state transitions are fully auditable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4754880" y="426110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📞  Human escalation — "help" connects to live agent anytime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08 / 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A10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08 — DEMONSTRATION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 — </a:t>
            </a:r>
            <a:r>
              <a:rPr b="1" i="0" lang="en-US" sz="34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WhatsApp Chat UI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57200" y="1170432"/>
            <a:ext cx="2743200" cy="3401568"/>
          </a:xfrm>
          <a:prstGeom prst="roundRect">
            <a:avLst>
              <a:gd fmla="val 10000" name="adj"/>
            </a:avLst>
          </a:prstGeom>
          <a:solidFill>
            <a:srgbClr val="111111"/>
          </a:solidFill>
          <a:ln cap="flat" cmpd="sng" w="38100">
            <a:solidFill>
              <a:srgbClr val="2A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457200" y="1170432"/>
            <a:ext cx="2743200" cy="320040"/>
          </a:xfrm>
          <a:prstGeom prst="rect">
            <a:avLst/>
          </a:prstGeom>
          <a:solidFill>
            <a:srgbClr val="128C7E"/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502920" y="11887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0F0EE"/>
                </a:solidFill>
                <a:latin typeface="Calibri"/>
                <a:ea typeface="Calibri"/>
                <a:cs typeface="Calibri"/>
                <a:sym typeface="Calibri"/>
              </a:rPr>
              <a:t>🚗 SureRide  🟢 online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651760" y="118872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F0EE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0F0EE"/>
                </a:solidFill>
                <a:latin typeface="Calibri"/>
                <a:ea typeface="Calibri"/>
                <a:cs typeface="Calibri"/>
                <a:sym typeface="Calibri"/>
              </a:rPr>
              <a:t>20:00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57200" y="1490472"/>
            <a:ext cx="2743200" cy="3081528"/>
          </a:xfrm>
          <a:prstGeom prst="rect">
            <a:avLst/>
          </a:prstGeom>
          <a:solidFill>
            <a:srgbClr val="ECE5DD"/>
          </a:solidFill>
          <a:ln cap="flat" cmpd="sng" w="12700">
            <a:solidFill>
              <a:srgbClr val="ECE5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512064" y="1536192"/>
            <a:ext cx="1920240" cy="356616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548640" y="156362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👋 Welcome to SureRide!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May I have your name?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1600200" y="1938528"/>
            <a:ext cx="1554480" cy="214884"/>
          </a:xfrm>
          <a:prstGeom prst="roundRect">
            <a:avLst>
              <a:gd fmla="val 25532" name="adj"/>
            </a:avLst>
          </a:prstGeom>
          <a:solidFill>
            <a:srgbClr val="DCF8C6"/>
          </a:solidFill>
          <a:ln cap="flat" cmpd="sng" w="12700">
            <a:solidFill>
              <a:srgbClr val="DCF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1627632" y="1965960"/>
            <a:ext cx="146304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Brian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512064" y="2199132"/>
            <a:ext cx="1920240" cy="356616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548640" y="222656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Nice to meet you, Brian! 😊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Where is your pickup?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1600200" y="2601468"/>
            <a:ext cx="1554480" cy="214884"/>
          </a:xfrm>
          <a:prstGeom prst="roundRect">
            <a:avLst>
              <a:gd fmla="val 25532" name="adj"/>
            </a:avLst>
          </a:prstGeom>
          <a:solidFill>
            <a:srgbClr val="DCF8C6"/>
          </a:solidFill>
          <a:ln cap="flat" cmpd="sng" w="12700">
            <a:solidFill>
              <a:srgbClr val="DCF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1627632" y="2628900"/>
            <a:ext cx="146304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Westlands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12064" y="2862072"/>
            <a:ext cx="1920240" cy="356616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548640" y="288950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✅ Westlands confirmed.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And destination?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1600200" y="3264408"/>
            <a:ext cx="1554480" cy="214884"/>
          </a:xfrm>
          <a:prstGeom prst="roundRect">
            <a:avLst>
              <a:gd fmla="val 25532" name="adj"/>
            </a:avLst>
          </a:prstGeom>
          <a:solidFill>
            <a:srgbClr val="DCF8C6"/>
          </a:solidFill>
          <a:ln cap="flat" cmpd="sng" w="12700">
            <a:solidFill>
              <a:srgbClr val="DCF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1627632" y="3291840"/>
            <a:ext cx="146304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Karen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512064" y="3525012"/>
            <a:ext cx="192024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548640" y="3552444"/>
            <a:ext cx="1828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✅ Karen confirmed.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🧾 Base: 150 · Dist: 546 · Fee: 50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Total: KES 695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💳 [Pay KES 695 via PesaPal]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1600200" y="4210812"/>
            <a:ext cx="1554480" cy="214884"/>
          </a:xfrm>
          <a:prstGeom prst="roundRect">
            <a:avLst>
              <a:gd fmla="val 25532" name="adj"/>
            </a:avLst>
          </a:prstGeom>
          <a:solidFill>
            <a:srgbClr val="DCF8C6"/>
          </a:solidFill>
          <a:ln cap="flat" cmpd="sng" w="12700">
            <a:solidFill>
              <a:srgbClr val="DCF8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1627632" y="4238244"/>
            <a:ext cx="1463040" cy="178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Check Payment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512064" y="4471416"/>
            <a:ext cx="1920240" cy="356616"/>
          </a:xfrm>
          <a:prstGeom prst="roundRect">
            <a:avLst>
              <a:gd fmla="val 15385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548640" y="449884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🎉 Payment confirmed!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ETA: 5–10 min 🙏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3383280" y="1188720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Running at localhost:8501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3383280" y="1481328"/>
            <a:ext cx="530352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3438144" y="157276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3931920" y="1545336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WhatsApp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3931920" y="1773936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Green bubbles, timestamps, sticky header bar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3383280" y="2139696"/>
            <a:ext cx="530352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3438144" y="223113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3931920" y="2203704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Fare Breakdown Card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3931920" y="2432304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Line-item details: base + distance + platform fees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3383280" y="2798064"/>
            <a:ext cx="530352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3438144" y="288950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3931920" y="286207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PesaPal Checkout Link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3931920" y="3090672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Redirect link inside booking bubble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3383280" y="3456432"/>
            <a:ext cx="5303520" cy="56692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3438144" y="354787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3931920" y="3520440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Operations Dashboard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3931920" y="3749040"/>
            <a:ext cx="4663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Metrics tab for capstone assessors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3383280" y="4133088"/>
            <a:ext cx="5303520" cy="658368"/>
          </a:xfrm>
          <a:prstGeom prst="rect">
            <a:avLst/>
          </a:prstGeom>
          <a:solidFill>
            <a:srgbClr val="128C7E">
              <a:alpha val="12156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3520440" y="4169664"/>
            <a:ext cx="50292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it yourself:</a:t>
            </a:r>
            <a:b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25D366"/>
                </a:solidFill>
                <a:latin typeface="Courier New"/>
                <a:ea typeface="Courier New"/>
                <a:cs typeface="Courier New"/>
                <a:sym typeface="Courier New"/>
              </a:rPr>
              <a:t>source .venv/bin/activate  →  streamlit run ui/app.py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09 / 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D1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09 — REFLECTION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457200" y="41148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Worked, Challenges &amp; </a:t>
            </a:r>
            <a:r>
              <a:rPr b="1" i="0" lang="en-US" sz="34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457200" y="1207008"/>
            <a:ext cx="4041648" cy="1783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457200" y="1207008"/>
            <a:ext cx="4041648" cy="54864"/>
          </a:xfrm>
          <a:prstGeom prst="rect">
            <a:avLst/>
          </a:prstGeom>
          <a:solidFill>
            <a:srgbClr val="25D366"/>
          </a:solidFill>
          <a:ln cap="flat" cmpd="sng" w="127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2"/>
          <p:cNvSpPr/>
          <p:nvPr/>
        </p:nvSpPr>
        <p:spPr>
          <a:xfrm>
            <a:off x="566928" y="1316736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What Worked Well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566928" y="1627632"/>
            <a:ext cx="3840480" cy="1289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LangGraph dispatcher </a:t>
            </a:r>
            <a:r>
              <a:rPr lang="en-US" sz="10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which is</a:t>
            </a: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clean, auditable, easy to extend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RAG grounding eliminated hallucinated pricing &amp; policies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PesaPal delegation kept card credentials out of database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WhatsApp iframe CSS isolation → authentic look &amp; feel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4645152" y="1207008"/>
            <a:ext cx="4041648" cy="1783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4645152" y="1207008"/>
            <a:ext cx="4041648" cy="54864"/>
          </a:xfrm>
          <a:prstGeom prst="rect">
            <a:avLst/>
          </a:prstGeom>
          <a:solidFill>
            <a:srgbClr val="FF6B6B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4754880" y="1316736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Challenges Encountered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4754880" y="1627632"/>
            <a:ext cx="3840480" cy="1289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Streamlit iframe constraints required dynamic height estimation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Live PesaPal REST OAuth2 authentication &amp; signature checking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LangGraph add_messages reducer re-triggered greet node every turn — fixed with dispatcher guard condition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Local server = no public callback URL for PesaPal webhooks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457200" y="3118104"/>
            <a:ext cx="4041648" cy="1783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457200" y="3118104"/>
            <a:ext cx="4041648" cy="54864"/>
          </a:xfrm>
          <a:prstGeom prst="rect">
            <a:avLst/>
          </a:prstGeom>
          <a:solidFill>
            <a:srgbClr val="F7C948"/>
          </a:solidFill>
          <a:ln cap="flat" cmpd="sng" w="12700">
            <a:solidFill>
              <a:srgbClr val="F7C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566928" y="3227832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Lessons Learned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/>
          <p:nvPr/>
        </p:nvSpPr>
        <p:spPr>
          <a:xfrm>
            <a:off x="566928" y="3538728"/>
            <a:ext cx="3840480" cy="1289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Start modular before introducing third-party APIs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KDPA compliance is simpler when data minimisation is built-in from day 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Responsible AI constraints often produce better engineering outcomes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Decoupling the billing stack secures the whole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645152" y="3118104"/>
            <a:ext cx="4041648" cy="178308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2A31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4645152" y="3118104"/>
            <a:ext cx="4041648" cy="54864"/>
          </a:xfrm>
          <a:prstGeom prst="rect">
            <a:avLst/>
          </a:prstGeom>
          <a:solidFill>
            <a:srgbClr val="34EBE8"/>
          </a:solidFill>
          <a:ln cap="flat" cmpd="sng" w="12700">
            <a:solidFill>
              <a:srgbClr val="34E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4754880" y="3227832"/>
            <a:ext cx="38587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🚀 Future Iterations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/>
          <p:nvPr/>
        </p:nvSpPr>
        <p:spPr>
          <a:xfrm>
            <a:off x="4754880" y="3538728"/>
            <a:ext cx="3840480" cy="1289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OTP identity verification via M-Pesa number (top pre-production req.)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Google Maps Directions API for precise road routing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Swahili language support using Gemini 1.5 Pro multilingual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NER name parsing to replace heuristic string splitting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10 / 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3"/>
          <p:cNvSpPr/>
          <p:nvPr/>
        </p:nvSpPr>
        <p:spPr>
          <a:xfrm>
            <a:off x="1828800" y="457200"/>
            <a:ext cx="5486400" cy="3200400"/>
          </a:xfrm>
          <a:prstGeom prst="ellipse">
            <a:avLst/>
          </a:prstGeom>
          <a:solidFill>
            <a:srgbClr val="075E54">
              <a:alpha val="14901"/>
            </a:srgbClr>
          </a:solidFill>
          <a:ln cap="flat" cmpd="sng" w="12700">
            <a:solidFill>
              <a:srgbClr val="0D11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4" name="Google Shape;3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4572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914400" y="19659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Jeff Theuri</a:t>
            </a:r>
            <a:r>
              <a:rPr lang="en-US" sz="13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0" i="0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SureRide </a:t>
            </a:r>
            <a:r>
              <a:rPr lang="en-US" sz="13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0" i="0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AIPP Capstone Project  ·  Strathmore University  ·  June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1005840" y="2450592"/>
            <a:ext cx="1645920" cy="292608"/>
          </a:xfrm>
          <a:prstGeom prst="roundRect">
            <a:avLst>
              <a:gd fmla="val 50000" name="adj"/>
            </a:avLst>
          </a:prstGeom>
          <a:solidFill>
            <a:srgbClr val="25D366">
              <a:alpha val="14901"/>
            </a:srgbClr>
          </a:solidFill>
          <a:ln cap="flat" cmpd="sng" w="12700">
            <a:solidFill>
              <a:srgbClr val="25D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1005840" y="24505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D36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5D366"/>
                </a:solidFill>
                <a:latin typeface="Calibri"/>
                <a:ea typeface="Calibri"/>
                <a:cs typeface="Calibri"/>
                <a:sym typeface="Calibri"/>
              </a:rPr>
              <a:t>🤖 LangGraph Agent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/>
          <p:nvPr/>
        </p:nvSpPr>
        <p:spPr>
          <a:xfrm>
            <a:off x="2788920" y="2450592"/>
            <a:ext cx="1645920" cy="292608"/>
          </a:xfrm>
          <a:prstGeom prst="roundRect">
            <a:avLst>
              <a:gd fmla="val 50000" name="adj"/>
            </a:avLst>
          </a:prstGeom>
          <a:solidFill>
            <a:srgbClr val="B39DDB">
              <a:alpha val="14901"/>
            </a:srgbClr>
          </a:solidFill>
          <a:ln cap="flat" cmpd="sng" w="12700">
            <a:solidFill>
              <a:srgbClr val="B39D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2788920" y="24505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9DD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B39DDB"/>
                </a:solidFill>
                <a:latin typeface="Calibri"/>
                <a:ea typeface="Calibri"/>
                <a:cs typeface="Calibri"/>
                <a:sym typeface="Calibri"/>
              </a:rPr>
              <a:t>🧠 RAG Pipeline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4572000" y="2450592"/>
            <a:ext cx="1645920" cy="292608"/>
          </a:xfrm>
          <a:prstGeom prst="roundRect">
            <a:avLst>
              <a:gd fmla="val 50000" name="adj"/>
            </a:avLst>
          </a:prstGeom>
          <a:solidFill>
            <a:srgbClr val="34EBE8">
              <a:alpha val="14901"/>
            </a:srgbClr>
          </a:solidFill>
          <a:ln cap="flat" cmpd="sng" w="12700">
            <a:solidFill>
              <a:srgbClr val="34E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4572000" y="24505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EBE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4EBE8"/>
                </a:solidFill>
                <a:latin typeface="Calibri"/>
                <a:ea typeface="Calibri"/>
                <a:cs typeface="Calibri"/>
                <a:sym typeface="Calibri"/>
              </a:rPr>
              <a:t>💬 Streamlit 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6355080" y="2450592"/>
            <a:ext cx="1645920" cy="292608"/>
          </a:xfrm>
          <a:prstGeom prst="roundRect">
            <a:avLst>
              <a:gd fmla="val 50000" name="adj"/>
            </a:avLst>
          </a:prstGeom>
          <a:solidFill>
            <a:srgbClr val="F7C948">
              <a:alpha val="14901"/>
            </a:srgbClr>
          </a:solidFill>
          <a:ln cap="flat" cmpd="sng" w="12700">
            <a:solidFill>
              <a:srgbClr val="F7C9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6355080" y="245059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C94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7C948"/>
                </a:solidFill>
                <a:latin typeface="Calibri"/>
                <a:ea typeface="Calibri"/>
                <a:cs typeface="Calibri"/>
                <a:sym typeface="Calibri"/>
              </a:rPr>
              <a:t>⚖️ KDPA Governance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1828800" y="2926080"/>
            <a:ext cx="5486400" cy="685800"/>
          </a:xfrm>
          <a:prstGeom prst="rect">
            <a:avLst/>
          </a:prstGeom>
          <a:solidFill>
            <a:srgbClr val="128C7E">
              <a:alpha val="10196"/>
            </a:srgbClr>
          </a:solidFill>
          <a:ln cap="flat" cmpd="sng" w="12700">
            <a:solidFill>
              <a:srgbClr val="128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1828800" y="2944368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demo: </a:t>
            </a:r>
            <a:r>
              <a:rPr b="0" i="0" lang="en-US" sz="1100" u="none" cap="none" strike="noStrike">
                <a:solidFill>
                  <a:srgbClr val="25D366"/>
                </a:solidFill>
                <a:latin typeface="Courier New"/>
                <a:ea typeface="Courier New"/>
                <a:cs typeface="Courier New"/>
                <a:sym typeface="Courier New"/>
              </a:rPr>
              <a:t>localhost:8501</a:t>
            </a: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|    Source: </a:t>
            </a:r>
            <a:r>
              <a:rPr b="0" i="0" lang="en-US" sz="1100" u="none" cap="none" strike="noStrike">
                <a:solidFill>
                  <a:srgbClr val="25D366"/>
                </a:solidFill>
                <a:latin typeface="Courier New"/>
                <a:ea typeface="Courier New"/>
                <a:cs typeface="Courier New"/>
                <a:sym typeface="Courier New"/>
              </a:rPr>
              <a:t>sureride-capstone/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45720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55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3A4550"/>
                </a:solidFill>
                <a:latin typeface="Calibri"/>
                <a:ea typeface="Calibri"/>
                <a:cs typeface="Calibri"/>
                <a:sym typeface="Calibri"/>
              </a:rPr>
              <a:t>SureRide — AIPP Capstone  ·  Strathmore University ·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